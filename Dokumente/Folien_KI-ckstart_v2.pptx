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964" autoAdjust="0"/>
  </p:normalViewPr>
  <p:slideViewPr>
    <p:cSldViewPr snapToGrid="0" snapToObjects="1">
      <p:cViewPr varScale="1">
        <p:scale>
          <a:sx n="100" d="100"/>
          <a:sy n="100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r>
              <a:rPr lang="de-DE" sz="1200" b="0" i="0" u="none" strike="noStrike">
                <a:solidFill>
                  <a:srgbClr val="6B7280"/>
                </a:solidFill>
                <a:latin typeface="Arial"/>
              </a:rPr>
              <a:t>Wahrscheinlichkeit für das nächste Wort (schematisch)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Wahrscheinlichkeit</c:v>
                </c:pt>
              </c:strCache>
            </c:strRef>
          </c:tx>
          <c:spPr>
            <a:solidFill>
              <a:srgbClr val="E8801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München</c:v>
                </c:pt>
                <c:pt idx="1">
                  <c:v>die</c:v>
                </c:pt>
                <c:pt idx="2">
                  <c:v>Berlin</c:v>
                </c:pt>
                <c:pt idx="3">
                  <c:v>Nürnberg</c:v>
                </c:pt>
                <c:pt idx="4">
                  <c:v>seit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16-4F0F-B434-0EFED51C9C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326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03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0–1. Nicht lange einleiten – die Teilnehmer sollen sofort den Codespace starten (nächste Folie), damit er während des Vortragsteils hochfährt.</a:t>
            </a:r>
          </a:p>
          <a:p>
            <a:endParaRPr/>
          </a:p>
          <a:p>
            <a:r>
              <a:t>Beiläufig, ohne Betonung, nicht wiederholen: „… Andreas Weiß, IT-Referent und Betriebsrat – und seit letzter Woche auch Buchautor: Mein erstes Buch ist fertig, heißt auch KI-ckstart, kommt im Frühjahr raus. Aber heute geht es um euch.“</a:t>
            </a:r>
          </a:p>
          <a:p>
            <a:r>
              <a:t>→ AUFLÖSUNG AUF FOLIE 13. NICHT VERGESSEN.</a:t>
            </a:r>
          </a:p>
          <a:p>
            <a:endParaRPr/>
          </a:p>
          <a:p>
            <a:r>
              <a:t>Kernbotschaft des ganzen Vortrags, die am Ende wiederkommt: Das Netz, das ihr gleich selbst baut, funktioniert nach demselben Prinzip wie ChatGPT und der Agent, den wir am Ende sehen. Nur die Größe ist anders.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1–4. Diese Folie bleibt stehen, bis alle den Codespace gestartet haben. Nicht warten, bis er fertig ist – nur bis alle geklickt haben.</a:t>
            </a:r>
          </a:p>
          <a:p>
            <a:endParaRPr/>
          </a:p>
          <a:p>
            <a:r>
              <a:t>Während alle klicken, drei Rätsel als Füller: „Bis das läuft, ein kurzer Test, ob ihr wach seid. Ich fange Sätze an, ihr ruft das Ende.“ – „Eins plus eins ist …“ – „Der Apfel fällt nicht weit vom …“ – „Wer anderen eine Grube gräbt, …“ – (Pause) – „ist meist Baggerfahrer.“</a:t>
            </a:r>
          </a:p>
          <a:p>
            <a:r>
              <a:t>Reserve: „Wer A sagt, muss auch …“ – „Have you tried turning it …“ – „404 …“</a:t>
            </a:r>
          </a:p>
          <a:p>
            <a:r>
              <a:t>Schluss: „Merkt euch, was ihr gerade gemacht habt. Das kommt bei Folie 12 wieder – dann wisst ihr, was ChatGPT den ganzen Tag tut.“ (Reservefolie R1 hat die Sätze, falls du sie zeigen willst.)</a:t>
            </a:r>
          </a:p>
          <a:p>
            <a:endParaRPr/>
          </a:p>
          <a:p>
            <a:r>
              <a:t>Häufigste Probleme: (1) kein GitHub-Account → Nebensitzer hilft beim Anlegen, notfalls Zweier-Teams. (2) Firmenproxy blockt github.dev → Handy-Hotspot des Nachbarn, oder Zweier-Team. (3) Der Link zeigt den Quickstart-Dialog → einfach bestätigen.</a:t>
            </a:r>
          </a:p>
          <a:p>
            <a:endParaRPr/>
          </a:p>
          <a:p>
            <a:r>
              <a:t>Der Link ist mit dem Repo-Namen NoMadAndy/KI-ckstart erzeugt. Falls das Repo anders heißt: QR-Code neu erzeugen (trainer/make_qr.py).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4–6. Kurze Aktivierung: Handzeichen einholen. Erwartung: alle Hände oben.</a:t>
            </a:r>
          </a:p>
          <a:p>
            <a:endParaRPr/>
          </a:p>
          <a:p>
            <a:r>
              <a:t>Pointe: Die spektakulären (ChatGPT) und die unspektakulären (Spam-Filter) laufen auf demselben Prinzip. Das Prinzip bauen wir heute selbst.</a:t>
            </a:r>
          </a:p>
          <a:p>
            <a:endParaRPr/>
          </a:p>
          <a:p>
            <a:r>
              <a:t>Als letzter Punkt: „Und wer hat heute schon einen Turing-Test bestanden? Jeder, der ein CAPTCHA gelöst hat. CAPTCHA heißt Completely Automated Public Turing test to tell Computers and Humans Apart. Ihr legt täglich Turing-Tests ab – nur umgekehrt. Inzwischen lösen Bots die Dinger besser als wir.“ (Reservefolie R3, falls Nachfragen kommen.)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6–8. Der eine Perspektivwechsel, den alle mitnehmen sollen: Beim Lernen ist das Programm der Output, nicht der Input.</a:t>
            </a:r>
          </a:p>
          <a:p>
            <a:endParaRPr/>
          </a:p>
          <a:p>
            <a:r>
              <a:t>Beispiel für „Programmieren“: „1966, MIT: Joseph Weizenbaum, geboren in Berlin, schreibt Eliza – den ersten Chatbot. Rund 200 handgeschriebene Regeln: Schlüsselwort erkennen, Satz umdrehen, Frage zurück. ‚Ich bin müde‘ – ‚Warum bist du müde?‘ Seine Sekretärin bat ihn, den Raum zu verlassen, weil sie privat mit dem Programm reden wollte. Das ist Programmieren: für jede Situation eine Regel. Die 201. Situation bricht es. Lernen heißt: Die Regeln entstehen aus Beispielen – und das Programm ist der Output.“ (Eliza steht auf der Handy-Seite, zum Weitermachen. Reservefolie R2.)</a:t>
            </a:r>
          </a:p>
          <a:p>
            <a:endParaRPr/>
          </a:p>
          <a:p>
            <a:r>
              <a:t>Zweites Beispiel für die Gruppe: Wer von euch könnte eine if-Kaskade schreiben, die Katzenbilder erkennt? Niemand. Aber jeder kann 10.000 Katzenbilder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8–10. Nicht länger als zwei Minuten. Die Formel laut vorlesen, dann die Frage: Was davon ist lernbar? → nur w₁, w₂, b. Der Rest ist fest.
ReLU: Warum abschneiden? Ohne den Knick wäre jedes noch so große Netz nur eine gerade Linie. Die Knicke ermöglichen krumme Grenzen – das sehen sie gleich in Experiment B (2 Neuronen = 2 Knicke).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10–11. Nur zeigen, dass es klein ist. „Deep Learning“ heißt nichts anderes, als mehrere solche Schichten hintereinander zu hängen – das kommt in der Challenge.</a:t>
            </a:r>
          </a:p>
          <a:p>
            <a:endParaRPr/>
          </a:p>
          <a:p>
            <a:r>
              <a:t>Die 65 zählen lassen statt vorrechnen: „2 Eingänge, 16 Neuronen, 1 Ausgang. Wie viele Pfeile?“ (Zuruf: 32 plus 16 = 48.) „Plus ein Bias pro Neuron: 16 plus 1. Zusammen?“ (65.) „65 Zahlen. Das ist alles, was dieses Netz lernt.“ Im Notebook wird die Zahl automatisch gezählt.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11–13. Das ist die wichtigste Folie. Die vier Schritte stehen wörtlich so im Notebook (Funktion trainiere) – darauf hinweisen, damit sie den Code gleich wiedererkennen.
Schritt 3 ist der einzige mathematisch anspruchsvolle (Backpropagation). Heute reicht: PyTorch rechnet für jedes Gewicht aus, in welche Richtung es den Fehler verkleinert. Wer mehr wissen will: Kettenregel aus der Schule.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13–17. Diese Folie ist jetzt der Debrief des Papier-Trainings, nicht mehr Vortrag. Protokollblätter und Datenkarten liegen vor Beginn auf den Plätzen (eine Garnitur pro drei Personen, Rot/Blau/Grün reihum). Folie bleibt stehen. Reservefolie R5 hat die Rollen, falls du sie zeigen willst.</a:t>
            </a:r>
          </a:p>
          <a:p>
            <a:endParaRPr/>
          </a:p>
          <a:p>
            <a:r>
              <a:t>Ansage: „Bevor ihr das Netz trainiert, trainiert ihr eins von Hand. Dreiergruppen mit euren Nachbarn. Auf dem Blatt: ein Modell mit einem einzigen Gewicht, Start w = 1. Einer ist das Modell und rechnet, einer ist der Lehrer und kennt die Wahrheit, einer ist der Optimierer und dreht am Gewicht – um die Schrittweite, die auf eurem Blatt steht. Fünf Runden. Los.“</a:t>
            </a:r>
          </a:p>
          <a:p>
            <a:endParaRPr/>
          </a:p>
          <a:p>
            <a:r>
              <a:t>Nach 2 Minuten: „Stopp. Rot – wo steht euer w? Blau? Grün?“</a:t>
            </a:r>
          </a:p>
          <a:p>
            <a:r>
              <a:t>Debrief: „Rot kriecht. Blau sitzt. Grün springt hin und her und kommt nie an. Die Schrittweite ist die Lernrate – das hier ist derselbe Hügel. Zu klein: ewig. Passend: zack. Zu groß: nie. Gleich im Notebook dreht ihr den Knopf auf 0,001 und auf 30. Ihr wisst jetzt, was passiert.“</a:t>
            </a:r>
          </a:p>
          <a:p>
            <a:endParaRPr/>
          </a:p>
          <a:p>
            <a:r>
              <a:t>Wenn jemand fragt: Echtes Gradientenverfahren nimmt nicht nur die Richtung, sondern skaliert den Schritt mit der Fehlergröße. Das Prinzip ist dasselbe. Das Bild ist der Loss über EIN Gewicht – in echt 65 Dimensionen (oder Milliarden), das kann sich keiner vorstellen, muss man auch nicht.</a:t>
            </a:r>
          </a:p>
          <a:p>
            <a:endParaRPr/>
          </a:p>
          <a:p>
            <a:r>
              <a:t>Übergang zum DIY-Teil: Jetzt sollten alle Codespaces stehen. Wer noch nicht so weit ist, setzt sich zu jemandem dazu.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17–35 (18 Minuten). Folie stehen lassen, Timer sichtbar. Durch die Reihen gehen, nicht am Beamer stehen.</a:t>
            </a:r>
          </a:p>
          <a:p>
            <a:endParaRPr/>
          </a:p>
          <a:p>
            <a:r>
              <a:t>Zwischenrufe, die immer kommen: Kernel auswählen (Python 3 (Workshop)); ModuleNotFoundError torch → Setup noch nicht durch, kurz warten.</a:t>
            </a:r>
          </a:p>
          <a:p>
            <a:endParaRPr/>
          </a:p>
          <a:p>
            <a:r>
              <a:t>Minute 29 laut ansagen: „Wer noch nicht bei Abschnitt 5 ist, springt jetzt dorthin.“ Die Drehknöpfe sind der Kern, nicht die Vollständigkeit. Beim Lernrate-Knopf an das Papier-Training erinnern: Rot, Blau, Grün.</a:t>
            </a:r>
          </a:p>
          <a:p>
            <a:endParaRPr/>
          </a:p>
          <a:p>
            <a:r>
              <a:t>Minute 33: „Zwei Minuten – schreibt eure Sätze fertig.“ Dann einsammeln (nächste Folie).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35–38. Erst einsammeln, dann die Folie aufdecken – die Bilder bestätigen, was sie selbst gesehen haben. Spickzettel: trainer/loesungen.md.
Die Overfitting-Frage ist die Brücke zu den Sprachmodellen: Ein Modell kann Trainingsdaten wörtlich wiedergeben, ohne sie zu verstehen. Gilt für 65 Gewichte und für 400 Milliarden.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38–40. Die letzte Zeile ist die Pointe – ruhig zweimal sagen. Alles, was sie heute beobachtet haben (Lernrate, Underfitting, Overfitting), gilt dort genauso.
Zahlen sind Größenordnungen, keine exakten Angaben; sie ändern sich jedes Jahr.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Minute 40–42. </a:t>
            </a:r>
            <a:r>
              <a:rPr dirty="0" err="1"/>
              <a:t>Wer</a:t>
            </a:r>
            <a:r>
              <a:rPr dirty="0"/>
              <a:t> Notebook 02 </a:t>
            </a:r>
            <a:r>
              <a:rPr dirty="0" err="1"/>
              <a:t>geöffnet</a:t>
            </a:r>
            <a:r>
              <a:rPr dirty="0"/>
              <a:t> hat, hat </a:t>
            </a:r>
            <a:r>
              <a:rPr dirty="0" err="1"/>
              <a:t>genau</a:t>
            </a:r>
            <a:r>
              <a:rPr dirty="0"/>
              <a:t> dieses </a:t>
            </a:r>
            <a:r>
              <a:rPr dirty="0" err="1"/>
              <a:t>Balkendiagramm</a:t>
            </a:r>
            <a:r>
              <a:rPr dirty="0"/>
              <a:t> </a:t>
            </a:r>
            <a:r>
              <a:rPr dirty="0" err="1"/>
              <a:t>schon</a:t>
            </a:r>
            <a:r>
              <a:rPr dirty="0"/>
              <a:t> </a:t>
            </a:r>
            <a:r>
              <a:rPr dirty="0" err="1"/>
              <a:t>gesehen</a:t>
            </a:r>
            <a:r>
              <a:rPr dirty="0"/>
              <a:t> –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Buchstaben</a:t>
            </a:r>
            <a:r>
              <a:rPr dirty="0"/>
              <a:t> </a:t>
            </a:r>
            <a:r>
              <a:rPr dirty="0" err="1"/>
              <a:t>statt</a:t>
            </a:r>
            <a:r>
              <a:rPr dirty="0"/>
              <a:t> </a:t>
            </a:r>
            <a:r>
              <a:rPr dirty="0" err="1"/>
              <a:t>Wörtern</a:t>
            </a:r>
            <a:r>
              <a:rPr dirty="0"/>
              <a:t> (</a:t>
            </a:r>
            <a:r>
              <a:rPr dirty="0" err="1"/>
              <a:t>zeige_kandidaten</a:t>
            </a:r>
            <a:r>
              <a:rPr dirty="0"/>
              <a:t>).</a:t>
            </a:r>
          </a:p>
          <a:p>
            <a:endParaRPr dirty="0"/>
          </a:p>
          <a:p>
            <a:r>
              <a:rPr dirty="0" err="1"/>
              <a:t>Einstieg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Folie 2: „</a:t>
            </a:r>
            <a:r>
              <a:rPr dirty="0" err="1"/>
              <a:t>Erinnert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euch</a:t>
            </a:r>
            <a:r>
              <a:rPr dirty="0"/>
              <a:t>? 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habt</a:t>
            </a:r>
            <a:r>
              <a:rPr dirty="0"/>
              <a:t> das </a:t>
            </a:r>
            <a:r>
              <a:rPr dirty="0" err="1"/>
              <a:t>wahrscheinlichste</a:t>
            </a:r>
            <a:r>
              <a:rPr dirty="0"/>
              <a:t> </a:t>
            </a:r>
            <a:r>
              <a:rPr dirty="0" err="1"/>
              <a:t>nächste</a:t>
            </a:r>
            <a:r>
              <a:rPr dirty="0"/>
              <a:t> Wort </a:t>
            </a:r>
            <a:r>
              <a:rPr dirty="0" err="1"/>
              <a:t>geraten</a:t>
            </a:r>
            <a:r>
              <a:rPr dirty="0"/>
              <a:t>. </a:t>
            </a:r>
            <a:r>
              <a:rPr dirty="0" err="1"/>
              <a:t>Genau</a:t>
            </a:r>
            <a:r>
              <a:rPr dirty="0"/>
              <a:t> das tut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Sprachmodell</a:t>
            </a:r>
            <a:r>
              <a:rPr dirty="0"/>
              <a:t> –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anderes</a:t>
            </a:r>
            <a:r>
              <a:rPr dirty="0"/>
              <a:t>. Noch </a:t>
            </a:r>
            <a:r>
              <a:rPr dirty="0" err="1"/>
              <a:t>einer</a:t>
            </a:r>
            <a:r>
              <a:rPr dirty="0"/>
              <a:t>: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Farbe</a:t>
            </a:r>
            <a:r>
              <a:rPr dirty="0"/>
              <a:t> hat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leeres</a:t>
            </a:r>
            <a:r>
              <a:rPr dirty="0"/>
              <a:t> Blatt Papier? Was </a:t>
            </a:r>
            <a:r>
              <a:rPr dirty="0" err="1"/>
              <a:t>gibt</a:t>
            </a:r>
            <a:r>
              <a:rPr dirty="0"/>
              <a:t> man in den </a:t>
            </a:r>
            <a:r>
              <a:rPr dirty="0" err="1"/>
              <a:t>Kaffee</a:t>
            </a:r>
            <a:r>
              <a:rPr dirty="0"/>
              <a:t>?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Farbe</a:t>
            </a:r>
            <a:r>
              <a:rPr dirty="0"/>
              <a:t> hat Milch? Was </a:t>
            </a:r>
            <a:r>
              <a:rPr dirty="0" err="1"/>
              <a:t>trinkt</a:t>
            </a:r>
            <a:r>
              <a:rPr dirty="0"/>
              <a:t> die Kuh?“ – (Milch.) – „Wasser. Ich </a:t>
            </a:r>
            <a:r>
              <a:rPr dirty="0" err="1"/>
              <a:t>habe</a:t>
            </a:r>
            <a:r>
              <a:rPr dirty="0"/>
              <a:t> </a:t>
            </a:r>
            <a:r>
              <a:rPr dirty="0" err="1"/>
              <a:t>euch</a:t>
            </a:r>
            <a:r>
              <a:rPr dirty="0"/>
              <a:t> die </a:t>
            </a:r>
            <a:r>
              <a:rPr dirty="0" err="1"/>
              <a:t>ersten</a:t>
            </a:r>
            <a:r>
              <a:rPr dirty="0"/>
              <a:t> </a:t>
            </a:r>
            <a:r>
              <a:rPr dirty="0" err="1"/>
              <a:t>Glieder</a:t>
            </a:r>
            <a:r>
              <a:rPr dirty="0"/>
              <a:t> </a:t>
            </a:r>
            <a:r>
              <a:rPr dirty="0" err="1"/>
              <a:t>vorgegeben</a:t>
            </a:r>
            <a:r>
              <a:rPr dirty="0"/>
              <a:t>, der Rest </a:t>
            </a:r>
            <a:r>
              <a:rPr dirty="0" err="1"/>
              <a:t>kam</a:t>
            </a:r>
            <a:r>
              <a:rPr dirty="0"/>
              <a:t> von </a:t>
            </a:r>
            <a:r>
              <a:rPr dirty="0" err="1"/>
              <a:t>allein</a:t>
            </a:r>
            <a:r>
              <a:rPr dirty="0"/>
              <a:t>.“</a:t>
            </a:r>
          </a:p>
          <a:p>
            <a:endParaRPr dirty="0"/>
          </a:p>
          <a:p>
            <a:r>
              <a:rPr dirty="0" err="1"/>
              <a:t>Münchhausen</a:t>
            </a:r>
            <a:r>
              <a:rPr dirty="0"/>
              <a:t> (60 </a:t>
            </a:r>
            <a:r>
              <a:rPr dirty="0" err="1"/>
              <a:t>Sekunden</a:t>
            </a:r>
            <a:r>
              <a:rPr dirty="0"/>
              <a:t>, </a:t>
            </a:r>
            <a:r>
              <a:rPr dirty="0" err="1"/>
              <a:t>Reservefolie</a:t>
            </a:r>
            <a:r>
              <a:rPr dirty="0"/>
              <a:t> R4): „Ein </a:t>
            </a:r>
            <a:r>
              <a:rPr dirty="0" err="1"/>
              <a:t>Sprachmodell</a:t>
            </a:r>
            <a:r>
              <a:rPr dirty="0"/>
              <a:t> hat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außer</a:t>
            </a:r>
            <a:r>
              <a:rPr dirty="0"/>
              <a:t> den </a:t>
            </a:r>
            <a:r>
              <a:rPr dirty="0" err="1"/>
              <a:t>Wörtern</a:t>
            </a:r>
            <a:r>
              <a:rPr dirty="0"/>
              <a:t>, die </a:t>
            </a:r>
            <a:r>
              <a:rPr dirty="0" err="1"/>
              <a:t>schon</a:t>
            </a:r>
            <a:r>
              <a:rPr dirty="0"/>
              <a:t> </a:t>
            </a:r>
            <a:r>
              <a:rPr dirty="0" err="1"/>
              <a:t>dastehen</a:t>
            </a:r>
            <a:r>
              <a:rPr dirty="0"/>
              <a:t>. </a:t>
            </a:r>
            <a:r>
              <a:rPr dirty="0" err="1"/>
              <a:t>Jedes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Wort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den </a:t>
            </a:r>
            <a:r>
              <a:rPr dirty="0" err="1"/>
              <a:t>vorherigen</a:t>
            </a:r>
            <a:r>
              <a:rPr dirty="0"/>
              <a:t> </a:t>
            </a:r>
            <a:r>
              <a:rPr dirty="0" err="1"/>
              <a:t>berechnet</a:t>
            </a:r>
            <a:r>
              <a:rPr dirty="0"/>
              <a:t>, </a:t>
            </a:r>
            <a:r>
              <a:rPr dirty="0" err="1"/>
              <a:t>hängt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hinten</a:t>
            </a:r>
            <a:r>
              <a:rPr dirty="0"/>
              <a:t> </a:t>
            </a:r>
            <a:r>
              <a:rPr dirty="0" err="1"/>
              <a:t>dran</a:t>
            </a:r>
            <a:r>
              <a:rPr dirty="0"/>
              <a:t> und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Grundlage</a:t>
            </a:r>
            <a:r>
              <a:rPr dirty="0"/>
              <a:t> </a:t>
            </a:r>
            <a:r>
              <a:rPr dirty="0" err="1"/>
              <a:t>fürs</a:t>
            </a:r>
            <a:r>
              <a:rPr dirty="0"/>
              <a:t> </a:t>
            </a:r>
            <a:r>
              <a:rPr dirty="0" err="1"/>
              <a:t>nächste</a:t>
            </a:r>
            <a:r>
              <a:rPr dirty="0"/>
              <a:t>. Die Kette </a:t>
            </a:r>
            <a:r>
              <a:rPr dirty="0" err="1"/>
              <a:t>zieht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dem Sumpf – </a:t>
            </a:r>
            <a:r>
              <a:rPr dirty="0" err="1"/>
              <a:t>Münchhausen</a:t>
            </a:r>
            <a:r>
              <a:rPr dirty="0"/>
              <a:t>. 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kennt</a:t>
            </a:r>
            <a:r>
              <a:rPr dirty="0"/>
              <a:t> das Wort </a:t>
            </a:r>
            <a:r>
              <a:rPr dirty="0" err="1"/>
              <a:t>dafür</a:t>
            </a:r>
            <a:r>
              <a:rPr dirty="0"/>
              <a:t>: Bootstrapping. </a:t>
            </a:r>
            <a:r>
              <a:rPr dirty="0" err="1"/>
              <a:t>Jeder</a:t>
            </a:r>
            <a:r>
              <a:rPr dirty="0"/>
              <a:t> Rechner, den 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hochfahrt</a:t>
            </a:r>
            <a:r>
              <a:rPr dirty="0"/>
              <a:t>, </a:t>
            </a:r>
            <a:r>
              <a:rPr dirty="0" err="1"/>
              <a:t>bootet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Münchhausen</a:t>
            </a:r>
            <a:r>
              <a:rPr dirty="0"/>
              <a:t>. Der Haken: Zeigen die </a:t>
            </a:r>
            <a:r>
              <a:rPr dirty="0" err="1"/>
              <a:t>ersten</a:t>
            </a:r>
            <a:r>
              <a:rPr dirty="0"/>
              <a:t> </a:t>
            </a:r>
            <a:r>
              <a:rPr dirty="0" err="1"/>
              <a:t>Glieder</a:t>
            </a:r>
            <a:r>
              <a:rPr dirty="0"/>
              <a:t> in die </a:t>
            </a:r>
            <a:r>
              <a:rPr dirty="0" err="1"/>
              <a:t>falsche</a:t>
            </a:r>
            <a:r>
              <a:rPr dirty="0"/>
              <a:t> </a:t>
            </a:r>
            <a:r>
              <a:rPr dirty="0" err="1"/>
              <a:t>Richtung</a:t>
            </a:r>
            <a:r>
              <a:rPr dirty="0"/>
              <a:t>, </a:t>
            </a:r>
            <a:r>
              <a:rPr dirty="0" err="1"/>
              <a:t>zieht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Kette </a:t>
            </a:r>
            <a:r>
              <a:rPr dirty="0" err="1"/>
              <a:t>dorthin</a:t>
            </a:r>
            <a:r>
              <a:rPr dirty="0"/>
              <a:t> </a:t>
            </a:r>
            <a:r>
              <a:rPr dirty="0" err="1"/>
              <a:t>weiter</a:t>
            </a:r>
            <a:r>
              <a:rPr dirty="0"/>
              <a:t>. </a:t>
            </a:r>
            <a:r>
              <a:rPr dirty="0" err="1"/>
              <a:t>Zurücknehmen</a:t>
            </a:r>
            <a:r>
              <a:rPr dirty="0"/>
              <a:t> </a:t>
            </a:r>
            <a:r>
              <a:rPr dirty="0" err="1"/>
              <a:t>geht</a:t>
            </a:r>
            <a:r>
              <a:rPr dirty="0"/>
              <a:t> nicht,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weiter</a:t>
            </a:r>
            <a:r>
              <a:rPr dirty="0"/>
              <a:t> </a:t>
            </a:r>
            <a:r>
              <a:rPr dirty="0" err="1"/>
              <a:t>anhängen</a:t>
            </a:r>
            <a:r>
              <a:rPr dirty="0"/>
              <a:t>. Das </a:t>
            </a:r>
            <a:r>
              <a:rPr dirty="0" err="1"/>
              <a:t>ist</a:t>
            </a:r>
            <a:r>
              <a:rPr dirty="0"/>
              <a:t> der Kuh-Trick – und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Prompt. Und der </a:t>
            </a:r>
            <a:r>
              <a:rPr dirty="0" err="1"/>
              <a:t>Lügenbaron</a:t>
            </a:r>
            <a:r>
              <a:rPr dirty="0"/>
              <a:t> </a:t>
            </a:r>
            <a:r>
              <a:rPr dirty="0" err="1"/>
              <a:t>erzählte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vollem</a:t>
            </a:r>
            <a:r>
              <a:rPr dirty="0"/>
              <a:t> Ernst und </a:t>
            </a:r>
            <a:r>
              <a:rPr dirty="0" err="1"/>
              <a:t>liebevollem</a:t>
            </a:r>
            <a:r>
              <a:rPr dirty="0"/>
              <a:t> Detail. So </a:t>
            </a:r>
            <a:r>
              <a:rPr dirty="0" err="1"/>
              <a:t>halluziniert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Modell.“</a:t>
            </a:r>
          </a:p>
          <a:p>
            <a:endParaRPr dirty="0"/>
          </a:p>
          <a:p>
            <a:r>
              <a:rPr dirty="0" err="1"/>
              <a:t>Halluzination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Bug, den man </a:t>
            </a:r>
            <a:r>
              <a:rPr dirty="0" err="1"/>
              <a:t>wegpatcht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Eigenschaft</a:t>
            </a:r>
            <a:r>
              <a:rPr dirty="0"/>
              <a:t> des </a:t>
            </a:r>
            <a:r>
              <a:rPr dirty="0" err="1"/>
              <a:t>Prinzips</a:t>
            </a:r>
            <a:r>
              <a:rPr dirty="0"/>
              <a:t>. → </a:t>
            </a:r>
            <a:r>
              <a:rPr dirty="0" err="1"/>
              <a:t>Nächste</a:t>
            </a:r>
            <a:r>
              <a:rPr dirty="0"/>
              <a:t> Folie: </a:t>
            </a:r>
            <a:r>
              <a:rPr dirty="0" err="1"/>
              <a:t>Handys</a:t>
            </a:r>
            <a:r>
              <a:rPr dirty="0"/>
              <a:t> </a:t>
            </a:r>
            <a:r>
              <a:rPr dirty="0" err="1"/>
              <a:t>raus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Minute 42–44. Handys raus, QR-Code. „Keine personenbezogenen Daten – die Übungen brauchen keine.“ Das ist selbst eine Lernbotschaft und die Brücke zu Folie 16.</a:t>
            </a:r>
          </a:p>
          <a:p>
            <a:endParaRPr/>
          </a:p>
          <a:p>
            <a:r>
              <a:t>Übung 1 (bis 43:00): Zufallszahl antippen, absenden. Warten. Handzeichen: „Wer hat 42? 37? 47? 73?“ – „Ein Modell würfelt nicht. Es gibt die Zahl aus, die nach seinen Gewichten am wahrscheinlichsten ist. Deshalb sitzt der halbe Raum auf derselben Zahl.“</a:t>
            </a:r>
          </a:p>
          <a:p>
            <a:endParaRPr/>
          </a:p>
          <a:p>
            <a:r>
              <a:t>Übung 2 (bis 43:30): das Buch. Absenden, lesen. „Was steht da?“ (Zuruf.)</a:t>
            </a:r>
          </a:p>
          <a:p>
            <a:endParaRPr/>
          </a:p>
          <a:p>
            <a:r>
              <a:t>AUFLÖSUNG (43:30): „Das Buch gibt es nicht. Ich habe es vor 40 Minuten nebenbei, sicher und plausibel behauptet – und niemand hat gezuckt. Genau so klingt eine Halluzination: nicht wie ein Fehler, sondern wie eine Nebensache, die man glaubt. Der Unterschied zu mir: Ich weiß, dass es nicht stimmt, und kann es auflösen. Das Modell hat keine Instanz, die weiß, was es nicht weiß. Deshalb muss jemand draufschauen.“ → Agent.</a:t>
            </a:r>
          </a:p>
          <a:p>
            <a:endParaRPr/>
          </a:p>
          <a:p>
            <a:r>
              <a:t>Wenn das Modell „keine Informationen“ sagt: „Gut – und wer von euch hat vorhin nachgefragt?“ Die Auflösung trägt in beide Richtungen.</a:t>
            </a:r>
          </a:p>
          <a:p>
            <a:endParaRPr/>
          </a:p>
          <a:p>
            <a:r>
              <a:t>Buttons: „Copilot öffnen“ kopiert den Prompt und öffnet Copilot – einfügen (Copilot hat die Prompt-Übergabe per Link abgeschaltet). „In ChatGPT öffnen“ bringt den Prompt mit. Fallback: Kopieren, oder Prompt von der Folie abtippen.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44–45, kurz. Diese Folie nur anreißen – die eigentliche Erklärung ist die Live-Demo: Man sieht dem Agenten beim Planen, Ausführen und Lesen zu.</a:t>
            </a:r>
          </a:p>
          <a:p>
            <a:endParaRPr/>
          </a:p>
          <a:p>
            <a:r>
              <a:t>Hermes läuft auf meinem Homelab. Das Modell dahinter ist ein Coding-Modell über eine API plus ein lokales Qwen-Modell für kleinere Aufgaben. Die Hardware zu Hause: ein Server mit einer RTX 2080.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45–52. Abstimmung per Handzeichen, Feature-Text in den Auftrag (trainer/hermes_auftrag.md) einsetzen, absenden. Dann Terminal auf den Beamer, Schrift groß.</a:t>
            </a:r>
          </a:p>
          <a:p>
            <a:endParaRPr/>
          </a:p>
          <a:p>
            <a:r>
              <a:t>Während Hermes arbeitet, live kommentieren: Jetzt plant er. Jetzt schreibt er die Datei. Jetzt baut er den Container. Jetzt liest er die Fehlermeldung und korrigiert. Das ist die Agenten-Folie in echt. Brücke zu Münchhausen: Auch der Agent zieht sich an seiner eigenen Wortkette hoch – nur dass er zwischendurch nachschaut, ob der Boden trägt (Werkzeug-Ergebnis lesen).</a:t>
            </a:r>
          </a:p>
          <a:p>
            <a:endParaRPr/>
          </a:p>
          <a:p>
            <a:r>
              <a:t>Sobald die URL steht: QR-Code der Umfrage zeigen, alle stimmen ab, Ergebnisseite auf den Beamer. Das Ergebnis ist der Einstieg in die nächste Folie.</a:t>
            </a:r>
          </a:p>
          <a:p>
            <a:endParaRPr/>
          </a:p>
          <a:p>
            <a:r>
              <a:t>Fallback bei Problemen: Screencast des Trockenlaufs, Fallback-Container hochfahren – Umfrage findet trotzdem statt. Zum Schluss einen Blick in den erzeugten Code: „Würdet ihr das so übernehmen? Was fehlt?“ Botschaft: Entwurf vom Agenten, Verantwortung beim Menschen.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Minute 52–57. </a:t>
            </a:r>
            <a:r>
              <a:rPr dirty="0" err="1"/>
              <a:t>Heimspiel</a:t>
            </a:r>
            <a:r>
              <a:rPr dirty="0"/>
              <a:t>. An das </a:t>
            </a:r>
            <a:r>
              <a:rPr dirty="0" err="1"/>
              <a:t>Umfrageergebnis</a:t>
            </a:r>
            <a:r>
              <a:rPr dirty="0"/>
              <a:t> </a:t>
            </a:r>
            <a:r>
              <a:rPr dirty="0" err="1"/>
              <a:t>anknüpfen</a:t>
            </a:r>
            <a:r>
              <a:rPr dirty="0"/>
              <a:t>: „So </a:t>
            </a:r>
            <a:r>
              <a:rPr dirty="0" err="1"/>
              <a:t>viele</a:t>
            </a:r>
            <a:r>
              <a:rPr dirty="0"/>
              <a:t> von </a:t>
            </a:r>
            <a:r>
              <a:rPr dirty="0" err="1"/>
              <a:t>euch</a:t>
            </a:r>
            <a:r>
              <a:rPr dirty="0"/>
              <a:t> </a:t>
            </a:r>
            <a:r>
              <a:rPr dirty="0" err="1"/>
              <a:t>nutzen</a:t>
            </a:r>
            <a:r>
              <a:rPr dirty="0"/>
              <a:t> das </a:t>
            </a:r>
            <a:r>
              <a:rPr dirty="0" err="1"/>
              <a:t>täglich</a:t>
            </a:r>
            <a:r>
              <a:rPr dirty="0"/>
              <a:t> – und </a:t>
            </a:r>
            <a:r>
              <a:rPr dirty="0" err="1"/>
              <a:t>wer</a:t>
            </a:r>
            <a:r>
              <a:rPr dirty="0"/>
              <a:t> hat </a:t>
            </a:r>
            <a:r>
              <a:rPr dirty="0" err="1"/>
              <a:t>euch</a:t>
            </a:r>
            <a:r>
              <a:rPr dirty="0"/>
              <a:t> </a:t>
            </a:r>
            <a:r>
              <a:rPr dirty="0" err="1"/>
              <a:t>dafür</a:t>
            </a:r>
            <a:r>
              <a:rPr dirty="0"/>
              <a:t> </a:t>
            </a:r>
            <a:r>
              <a:rPr dirty="0" err="1"/>
              <a:t>geschult</a:t>
            </a:r>
            <a:r>
              <a:rPr dirty="0"/>
              <a:t>?“ Und an die </a:t>
            </a:r>
            <a:r>
              <a:rPr dirty="0" err="1"/>
              <a:t>Auflösung</a:t>
            </a:r>
            <a:r>
              <a:rPr dirty="0"/>
              <a:t>: „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habt</a:t>
            </a:r>
            <a:r>
              <a:rPr dirty="0"/>
              <a:t> </a:t>
            </a:r>
            <a:r>
              <a:rPr dirty="0" err="1"/>
              <a:t>heute</a:t>
            </a:r>
            <a:r>
              <a:rPr dirty="0"/>
              <a:t> </a:t>
            </a:r>
            <a:r>
              <a:rPr dirty="0" err="1"/>
              <a:t>gesehen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leicht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Halluzination</a:t>
            </a:r>
            <a:r>
              <a:rPr dirty="0"/>
              <a:t> </a:t>
            </a:r>
            <a:r>
              <a:rPr dirty="0" err="1"/>
              <a:t>durchgeht</a:t>
            </a:r>
            <a:r>
              <a:rPr dirty="0"/>
              <a:t> – </a:t>
            </a:r>
            <a:r>
              <a:rPr dirty="0" err="1"/>
              <a:t>bei</a:t>
            </a:r>
            <a:r>
              <a:rPr dirty="0"/>
              <a:t> mir und </a:t>
            </a:r>
            <a:r>
              <a:rPr dirty="0" err="1"/>
              <a:t>beim</a:t>
            </a:r>
            <a:r>
              <a:rPr dirty="0"/>
              <a:t> Modell.“</a:t>
            </a:r>
          </a:p>
          <a:p>
            <a:endParaRPr dirty="0"/>
          </a:p>
          <a:p>
            <a:r>
              <a:rPr dirty="0" err="1"/>
              <a:t>Weizenbaum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Brücke,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Absatz</a:t>
            </a:r>
            <a:r>
              <a:rPr dirty="0"/>
              <a:t>: „Der Mann, der Eliza </a:t>
            </a:r>
            <a:r>
              <a:rPr dirty="0" err="1"/>
              <a:t>gebaut</a:t>
            </a:r>
            <a:r>
              <a:rPr dirty="0"/>
              <a:t> hat,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schärfster</a:t>
            </a:r>
            <a:r>
              <a:rPr dirty="0"/>
              <a:t> </a:t>
            </a:r>
            <a:r>
              <a:rPr dirty="0" err="1"/>
              <a:t>Kritiker</a:t>
            </a:r>
            <a:r>
              <a:rPr dirty="0"/>
              <a:t>. </a:t>
            </a:r>
            <a:r>
              <a:rPr dirty="0" err="1"/>
              <a:t>Weizenbaum</a:t>
            </a:r>
            <a:r>
              <a:rPr dirty="0"/>
              <a:t> hat </a:t>
            </a:r>
            <a:r>
              <a:rPr dirty="0" err="1"/>
              <a:t>erschreckt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schnell Menschen dem </a:t>
            </a:r>
            <a:r>
              <a:rPr dirty="0" err="1"/>
              <a:t>Programm</a:t>
            </a:r>
            <a:r>
              <a:rPr dirty="0"/>
              <a:t> </a:t>
            </a:r>
            <a:r>
              <a:rPr dirty="0" err="1"/>
              <a:t>Verständnis</a:t>
            </a:r>
            <a:r>
              <a:rPr dirty="0"/>
              <a:t> </a:t>
            </a:r>
            <a:r>
              <a:rPr dirty="0" err="1"/>
              <a:t>zuschrieben</a:t>
            </a:r>
            <a:r>
              <a:rPr dirty="0"/>
              <a:t>. Zehn Jahre </a:t>
            </a:r>
            <a:r>
              <a:rPr dirty="0" err="1"/>
              <a:t>später</a:t>
            </a:r>
            <a:r>
              <a:rPr dirty="0"/>
              <a:t> </a:t>
            </a:r>
            <a:r>
              <a:rPr dirty="0" err="1"/>
              <a:t>schrieb</a:t>
            </a:r>
            <a:r>
              <a:rPr dirty="0"/>
              <a:t> er sein Buch </a:t>
            </a:r>
            <a:r>
              <a:rPr dirty="0" err="1"/>
              <a:t>über</a:t>
            </a:r>
            <a:r>
              <a:rPr dirty="0"/>
              <a:t> die Macht der Computer und die Ohnmacht der Vernunft, und seine Frage war nicht, was </a:t>
            </a:r>
            <a:r>
              <a:rPr dirty="0" err="1"/>
              <a:t>ein</a:t>
            </a:r>
            <a:r>
              <a:rPr dirty="0"/>
              <a:t> Computer </a:t>
            </a:r>
            <a:r>
              <a:rPr dirty="0" err="1"/>
              <a:t>kann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was er tun </a:t>
            </a:r>
            <a:r>
              <a:rPr dirty="0" err="1"/>
              <a:t>soll</a:t>
            </a:r>
            <a:r>
              <a:rPr dirty="0"/>
              <a:t>. </a:t>
            </a:r>
            <a:r>
              <a:rPr dirty="0" err="1"/>
              <a:t>Genau</a:t>
            </a:r>
            <a:r>
              <a:rPr dirty="0"/>
              <a:t> das </a:t>
            </a:r>
            <a:r>
              <a:rPr dirty="0" err="1"/>
              <a:t>ist</a:t>
            </a:r>
            <a:r>
              <a:rPr dirty="0"/>
              <a:t> die Frage der </a:t>
            </a:r>
            <a:r>
              <a:rPr dirty="0" err="1"/>
              <a:t>Mitbestimmung</a:t>
            </a:r>
            <a:r>
              <a:rPr dirty="0"/>
              <a:t>: Nicht, </a:t>
            </a:r>
            <a:r>
              <a:rPr dirty="0" err="1"/>
              <a:t>ob</a:t>
            </a:r>
            <a:r>
              <a:rPr dirty="0"/>
              <a:t> KI </a:t>
            </a:r>
            <a:r>
              <a:rPr dirty="0" err="1"/>
              <a:t>kommt</a:t>
            </a:r>
            <a:r>
              <a:rPr dirty="0"/>
              <a:t>.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wer</a:t>
            </a:r>
            <a:r>
              <a:rPr dirty="0"/>
              <a:t> </a:t>
            </a:r>
            <a:r>
              <a:rPr dirty="0" err="1"/>
              <a:t>entscheidet</a:t>
            </a:r>
            <a:r>
              <a:rPr dirty="0"/>
              <a:t>, </a:t>
            </a:r>
            <a:r>
              <a:rPr dirty="0" err="1"/>
              <a:t>wofür</a:t>
            </a:r>
            <a:r>
              <a:rPr dirty="0"/>
              <a:t>.“</a:t>
            </a:r>
          </a:p>
          <a:p>
            <a:endParaRPr dirty="0"/>
          </a:p>
          <a:p>
            <a:r>
              <a:rPr dirty="0"/>
              <a:t>Art. 4 KI-VO: </a:t>
            </a:r>
            <a:r>
              <a:rPr dirty="0" err="1"/>
              <a:t>Pflicht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ausreichender</a:t>
            </a:r>
            <a:r>
              <a:rPr dirty="0"/>
              <a:t> KI-</a:t>
            </a:r>
            <a:r>
              <a:rPr dirty="0" err="1"/>
              <a:t>Kompetenz</a:t>
            </a:r>
            <a:r>
              <a:rPr dirty="0"/>
              <a:t> für Personal, das KI-Systeme </a:t>
            </a:r>
            <a:r>
              <a:rPr dirty="0" err="1"/>
              <a:t>bedient</a:t>
            </a:r>
            <a:r>
              <a:rPr dirty="0"/>
              <a:t>, </a:t>
            </a:r>
            <a:r>
              <a:rPr dirty="0" err="1"/>
              <a:t>seit</a:t>
            </a:r>
            <a:r>
              <a:rPr dirty="0"/>
              <a:t> 2. </a:t>
            </a:r>
            <a:r>
              <a:rPr dirty="0" err="1"/>
              <a:t>Februar</a:t>
            </a:r>
            <a:r>
              <a:rPr dirty="0"/>
              <a:t> 2025. § 80 Abs. 3 S. 2 </a:t>
            </a:r>
            <a:r>
              <a:rPr dirty="0" err="1"/>
              <a:t>BetrVG</a:t>
            </a:r>
            <a:r>
              <a:rPr dirty="0"/>
              <a:t> (</a:t>
            </a:r>
            <a:r>
              <a:rPr dirty="0" err="1"/>
              <a:t>Sachverständige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KI </a:t>
            </a:r>
            <a:r>
              <a:rPr dirty="0" err="1"/>
              <a:t>gelten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erforderlich</a:t>
            </a:r>
            <a:r>
              <a:rPr dirty="0"/>
              <a:t>)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mündlich</a:t>
            </a:r>
            <a:r>
              <a:rPr dirty="0"/>
              <a:t> </a:t>
            </a:r>
            <a:r>
              <a:rPr dirty="0" err="1"/>
              <a:t>ergänzt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Nicht in </a:t>
            </a:r>
            <a:r>
              <a:rPr dirty="0" err="1"/>
              <a:t>Paragrafen</a:t>
            </a:r>
            <a:r>
              <a:rPr dirty="0"/>
              <a:t> </a:t>
            </a:r>
            <a:r>
              <a:rPr dirty="0" err="1"/>
              <a:t>ertrinken</a:t>
            </a:r>
            <a:r>
              <a:rPr dirty="0"/>
              <a:t> – die </a:t>
            </a:r>
            <a:r>
              <a:rPr dirty="0" err="1"/>
              <a:t>Botschaft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: 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habt</a:t>
            </a:r>
            <a:r>
              <a:rPr dirty="0"/>
              <a:t> Rechte, und </a:t>
            </a:r>
            <a:r>
              <a:rPr dirty="0" err="1"/>
              <a:t>ihr</a:t>
            </a:r>
            <a:r>
              <a:rPr dirty="0"/>
              <a:t> </a:t>
            </a:r>
            <a:r>
              <a:rPr dirty="0" err="1"/>
              <a:t>habt</a:t>
            </a:r>
            <a:r>
              <a:rPr dirty="0"/>
              <a:t> </a:t>
            </a:r>
            <a:r>
              <a:rPr dirty="0" err="1"/>
              <a:t>jetzt</a:t>
            </a:r>
            <a:r>
              <a:rPr dirty="0"/>
              <a:t> das Wissen,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nutzen</a:t>
            </a:r>
            <a:r>
              <a:rPr dirty="0"/>
              <a:t>. </a:t>
            </a:r>
            <a:r>
              <a:rPr dirty="0" err="1"/>
              <a:t>Konkreter</a:t>
            </a:r>
            <a:r>
              <a:rPr dirty="0"/>
              <a:t> </a:t>
            </a:r>
            <a:r>
              <a:rPr dirty="0" err="1"/>
              <a:t>Vorschlag</a:t>
            </a:r>
            <a:r>
              <a:rPr dirty="0"/>
              <a:t>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Mitnehmen</a:t>
            </a:r>
            <a:r>
              <a:rPr dirty="0"/>
              <a:t>: Die JAV </a:t>
            </a:r>
            <a:r>
              <a:rPr dirty="0" err="1"/>
              <a:t>formuliert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Antrag</a:t>
            </a:r>
            <a:r>
              <a:rPr dirty="0"/>
              <a:t> an den BR, KI-</a:t>
            </a:r>
            <a:r>
              <a:rPr dirty="0" err="1"/>
              <a:t>Kompetenz</a:t>
            </a:r>
            <a:r>
              <a:rPr dirty="0"/>
              <a:t> </a:t>
            </a:r>
            <a:r>
              <a:rPr dirty="0" err="1"/>
              <a:t>systematisch</a:t>
            </a:r>
            <a:r>
              <a:rPr dirty="0"/>
              <a:t> in die </a:t>
            </a:r>
            <a:r>
              <a:rPr dirty="0" err="1"/>
              <a:t>Ausbildung</a:t>
            </a:r>
            <a:r>
              <a:rPr dirty="0"/>
              <a:t> </a:t>
            </a:r>
            <a:r>
              <a:rPr dirty="0" err="1"/>
              <a:t>aufzunehmen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 57–60. Die drei Sätze langsam lesen. Dann Fragen. Wenn keine kommen: „Welches Experiment hat euch am meisten überrascht?“</a:t>
            </a:r>
          </a:p>
          <a:p>
            <a:endParaRPr/>
          </a:p>
          <a:p>
            <a:r>
              <a:t>Zwei QR-Codes: Repo (Notebook 02 für zu Hause – wer Lust hat, ersetzt den Trainingstext durch einen eigenen) und Handy-Seite (alle Übungen von heute plus Eliza).</a:t>
            </a:r>
          </a:p>
          <a:p>
            <a:endParaRPr/>
          </a:p>
          <a:p>
            <a:r>
              <a:t>Optional als allerletzter Satz – nur, wenn es ernst gemeint ist: „Halb gelogen, vorhin. Aus dieser Reihe könnte tatsächlich ein Buch werden. Heute war Kapitel 1.“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RESERVE R1 – im JAV-Ablauf nicht eingeplant (dort mündlich auf Folie 2). Für VHS-Kurs und andere Zielgruppen: als Einstieg zeigen, Satz für Satz aufrufen, das Ende aus dem Raum holen. Dann Denkfallen mündlich: Kuh-Trick, Toast-Trick, Moses-Illusion.</a:t>
            </a:r>
          </a:p>
          <a:p>
            <a:endParaRPr/>
          </a:p>
          <a:p>
            <a:r>
              <a:t>Witzige Alternativen für die Pointe „Temperatur“: Grube → „ist meist Baggerfahrer“, Apfel → „vom Pferd“. Brechts Umkehrung: Wer A sagt, muss nicht B sagen – er kann auch merken, dass A falsch war.</a:t>
            </a:r>
          </a:p>
          <a:p>
            <a:endParaRPr/>
          </a:p>
          <a:p>
            <a:r>
              <a:t>Brücke: Vier Aha-Momente in dieser Reihenfolge – Ergänzen = Autovervollständigung; die witzige Alternative = Temperatur; Priming (Weiß, Weiß, Weiß) = Prompting; Kuh trinkt Milch = Halluzination.</a:t>
            </a:r>
          </a:p>
          <a:p>
            <a:endParaRPr/>
          </a:p>
          <a:p>
            <a:r>
              <a:t>Tech-Variante für Azubis: Hello …, Have you tried turning it …, 404 …, Strg + Alt +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RESERVE R2 – Eliza. Im JAV-Ablauf mündlich auf Folie 4. Für den VHS-Kurs eine eigene Station (Abend 1): erst die Folie, dann Papierübung E (Regelkarten, Zweiergruppen, fünf Minuten), dann Handy-Übung 12 (Eliza-Miniatur, danach denselben Satz an Copilot).</a:t>
            </a:r>
          </a:p>
          <a:p>
            <a:endParaRPr/>
          </a:p>
          <a:p>
            <a:r>
              <a:t>Fakten: Joseph Weizenbaum, MIT, 1923 in Berlin geboren, 1936 emigriert. DOCTOR-Skript spielt einen Gesprächstherapeuten. 2026 ist das 60. Jubiläum. Der Quellcode wurde in MIT-Archiven wiedergefunden.</a:t>
            </a:r>
          </a:p>
          <a:p>
            <a:endParaRPr/>
          </a:p>
          <a:p>
            <a:r>
              <a:t>Der ELIZA-Effekt heute: Companion-Apps, „ChatGPT versteht mich“. Weizenbaums Frage „Was soll ein Computer tun dürfen?“ ist die Brücke zu Datenschutz, Mitbestimmung und Verbraucherschutz.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RESERVE R3 – Turing-Test. Im JAV-Ablauf nur der CAPTCHA-Satz auf Folie 3. Für den VHS-Kurs (Abend 2 oder 4): Folie zeigen, dann Handy-Übung 13 „Mensch oder Modell?“ (Antwortpaare, vorher mit echten Antworten von Bekannten befüllen) oder Übung 14 „Enttarnungsfrage“ (jeder schreibt eine Frage, mit der er eine KI sicher enttarnen würde – gemeinsam am Beamer testen; die meisten scheitern, was noch geht: das Hier und Jetzt im Raum).</a:t>
            </a:r>
          </a:p>
          <a:p>
            <a:endParaRPr/>
          </a:p>
          <a:p>
            <a:r>
              <a:t>Studien 2025: GPT-4.5 mit Persona „introvertierter Jugendlicher mit Tippfehlern“ häufiger für den Menschen gehalten als der Mensch; ohne Persona zu höflich, zu schnell, zu fehlerfrei.</a:t>
            </a:r>
          </a:p>
          <a:p>
            <a:endParaRPr/>
          </a:p>
          <a:p>
            <a:r>
              <a:t>Fürs Buch: Turings Aufsatz enthält neun Einwände samt Widerlegung, darunter der Lady-Lovelace-Einwand („eine Maschine kann nur, was man ihr eingibt“) – die Kreativitätsdebatte um LLMs, 75 Jahre früher. Biografie im Vortrag nur ein 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RESERVE R4 – Münchhausen. Im JAV-Ablauf mündlich auf Folie 12 (60 Sekunden). Für den VHS-Kurs (Abend 2) das Kernbild des Abends: erst die Folie, dann Papierübung F „Menschliches Sprachmodell“ (drei Runden: nur zwei Wörter sichtbar / ganzer Text / würfeln), dann Handy-Übung 5 „Kopfrechnen ohne Rechenweg“ als Beleg für den Schopf.</a:t>
            </a:r>
          </a:p>
          <a:p>
            <a:endParaRPr/>
          </a:p>
          <a:p>
            <a:r>
              <a:t>Für nicht-technische Gruppen die Karte „Bootstrapping“ überspringen oder in einem Satz erklären.</a:t>
            </a:r>
          </a:p>
          <a:p>
            <a:endParaRPr/>
          </a:p>
          <a:p>
            <a:r>
              <a:t>Fürs Buch: Hans Alberts Münchhausen-Trilemma – jede Letztbegründung endet im Zirkel, im Regress oder im Abbruch. „Bist du sicher?“ an ein Modell = es prüft sich mit sich selbst. Und die nächste Modellgeneration lernt aus Texten der vorigen: Der Sumpf wird zum eigenen Schopf. Kapiteltitel „Am eigenen Schopf“.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RESERVE R5 – Training von Hand. Im JAV-Ablauf steht Folie 8 während der Übung; diese Folie nur zeigen, wenn die Rollen unklar sind. Für den VHS-Kurs (Abend 1) die Hauptübung: Vollform 8–10 Minuten, jede Gruppe schreibt selbst mit.</a:t>
            </a:r>
          </a:p>
          <a:p>
            <a:endParaRPr/>
          </a:p>
          <a:p>
            <a:r>
              <a:t>Material: Protokollblätter Rot/Blau/Grün, Datenkarten (falten, x vorne, y hinten). Erwartung nach sechs Runden: Rot 1 → 4 (kriecht), Blau 1 → 3 → 5 → Treffer (sitzt), Grün 1 → 4 → 7 → 4 → 7 (springt).</a:t>
            </a:r>
          </a:p>
          <a:p>
            <a:endParaRPr/>
          </a:p>
          <a:p>
            <a:r>
              <a:t>Ehrlichkeitsnotiz für Nachfragen: Echtes Gradientenverfahren skaliert den Schritt mit Fehler × Eingabe; die Papierregel nimmt nur das Vorzeichen (Sign-SGD). Ein Gewicht statt 65 – das Prinzip bleibt.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0007FB0-B38F-DF13-6950-2204D612425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codespaces.new/NoMadAndy/KI-ckstar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nomadandy.github.io/KI-ckstart/handy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540496" y="1591056"/>
            <a:ext cx="1463040" cy="4572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540496" y="2048256"/>
            <a:ext cx="1463040" cy="4572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40496" y="2048256"/>
            <a:ext cx="1463040" cy="13716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540496" y="2048256"/>
            <a:ext cx="1463040" cy="22860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40496" y="2048256"/>
            <a:ext cx="1463040" cy="28346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 flipV="1">
            <a:off x="8540496" y="1591056"/>
            <a:ext cx="1463040" cy="14630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 flipV="1">
            <a:off x="8540496" y="2505456"/>
            <a:ext cx="1463040" cy="5486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540496" y="3054096"/>
            <a:ext cx="1463040" cy="36576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540496" y="3054096"/>
            <a:ext cx="1463040" cy="128016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540496" y="3054096"/>
            <a:ext cx="1463040" cy="18288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 flipV="1">
            <a:off x="8540496" y="1591056"/>
            <a:ext cx="1463040" cy="24688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 flipV="1">
            <a:off x="8540496" y="2505456"/>
            <a:ext cx="1463040" cy="15544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 flipV="1">
            <a:off x="8540496" y="3419856"/>
            <a:ext cx="1463040" cy="6400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540496" y="4059936"/>
            <a:ext cx="1463040" cy="27432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540496" y="4059936"/>
            <a:ext cx="1463040" cy="82296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003536" y="1591056"/>
            <a:ext cx="1463040" cy="14630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0003536" y="2505456"/>
            <a:ext cx="1463040" cy="5486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 flipV="1">
            <a:off x="10003536" y="3054096"/>
            <a:ext cx="1463040" cy="36576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 flipV="1">
            <a:off x="10003536" y="3054096"/>
            <a:ext cx="1463040" cy="128016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 flipV="1">
            <a:off x="10003536" y="3054096"/>
            <a:ext cx="1463040" cy="18288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412480" y="1920240"/>
            <a:ext cx="256032" cy="256032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412480" y="2926080"/>
            <a:ext cx="256032" cy="256032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412480" y="3931920"/>
            <a:ext cx="256032" cy="256032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875520" y="1463040"/>
            <a:ext cx="256032" cy="25603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875520" y="2377440"/>
            <a:ext cx="256032" cy="25603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875520" y="3291840"/>
            <a:ext cx="256032" cy="25603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875520" y="4206240"/>
            <a:ext cx="256032" cy="25603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875520" y="4754880"/>
            <a:ext cx="256032" cy="25603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1338560" y="2926080"/>
            <a:ext cx="329184" cy="329184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31520" y="13716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</a:t>
            </a:r>
            <a:r>
              <a:rPr lang="en-US" sz="60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-ck</a:t>
            </a: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6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lernt eine Maschine?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3429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 zum Anfassen – in 60 Minuten vom Neuron zum Agenten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2976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JAV-Versammlung · 16. September 2026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Andreas Weiß · IT-Referent &amp; Betriebsrat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Bevor wir anfangen: Codespace starten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Dauert 2–3 Minuten und läuft im Hintergrund – wir machen währenddessen weiter.</a:t>
            </a:r>
            <a:endParaRPr lang="en-US" sz="1600" dirty="0"/>
          </a:p>
        </p:txBody>
      </p:sp>
      <p:pic>
        <p:nvPicPr>
          <p:cNvPr id="4" name="Image 0" descr="/home/claude/assets/qr_codesp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codespaces.new/NoMadAndy/KI-ckstart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937760" y="187452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161" y="2021921"/>
            <a:ext cx="272125" cy="272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60720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QR-Code scannen oder Link im Browser öffnen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22128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dem Firmenlaptop, nicht auf dem Handy – da läuft gleich der Code.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937760" y="288036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161" y="3027761"/>
            <a:ext cx="272125" cy="2721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dem privaten GitHub-Account einloggen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60720" y="32186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noch keinen hat: github.com → Sign up, E-Mail bestätigen. Nebensitzer helfen.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937760" y="388620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5161" y="4033601"/>
            <a:ext cx="272125" cy="2721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60720" y="3840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„Create new codespace“ bestätigen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5760720" y="42245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Voreinstellung 2 Kerne ist richtig. Kostet nichts – 2 von 120 freien Core-Stunden.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937760" y="489204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5161" y="5039441"/>
            <a:ext cx="272125" cy="27212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760720" y="4846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Warten, bis VS Code im Browser steht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5760720" y="523036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Unten rechts läuft das Setup. Notebook 01 öffnet sich von allein.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steckt heute schon KI drin?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Handzeichen: Wer hat heute – vor dieser Versammlung – schon eines davon benutzt?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2240280"/>
            <a:ext cx="960120" cy="96012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951" y="24899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Autovervollständigung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31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Tastatur, Suchleiste, IDE – seit Jahren.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251960" y="2240280"/>
            <a:ext cx="960120" cy="96012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591" y="24899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Spam-Filter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931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Klassifikator: Spam oder nicht?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086600" y="2240280"/>
            <a:ext cx="960120" cy="96012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231" y="24899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 &amp; Stau-Prognose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931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Vorhersage aus Millionen Fahrten.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52560" y="19202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9921240" y="2240280"/>
            <a:ext cx="960120" cy="96012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871" y="24899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44000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ChatGPT &amp; Co.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3931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Nächstes Wort raten – sehr, sehr gut.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vier sind dasselbe Prinzip: aus Beispielen gelernt, nicht programmiert.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Programmieren vs. Lernen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„Künstliche Intelligenz“ heißt heute fast immer: maschinelles Lernen.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Klassisch programmiert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1097280" cy="10972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1097280" cy="10972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3246120"/>
            <a:ext cx="1005840" cy="41148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flipV="1">
            <a:off x="2011680" y="3840480"/>
            <a:ext cx="1005840" cy="41148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063240" y="333756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063240" y="3337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3749040"/>
            <a:ext cx="5486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074920" y="3291840"/>
            <a:ext cx="914400" cy="914400"/>
          </a:xfrm>
          <a:prstGeom prst="ellipse">
            <a:avLst/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07492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Mensch schreibt die Regeln auf. Funktioniert, solange man die 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537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Maschinell gelernt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29400" y="2606040"/>
            <a:ext cx="1097280" cy="10972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629400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3794760"/>
            <a:ext cx="1097280" cy="10972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62940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3246120"/>
            <a:ext cx="1005840" cy="41148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 flipV="1">
            <a:off x="7726680" y="3840480"/>
            <a:ext cx="1005840" cy="41148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78240" y="333756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8778240" y="3337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195560" y="3749040"/>
            <a:ext cx="5486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789920" y="3291840"/>
            <a:ext cx="914400" cy="91440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078992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zeigt Beispiele mit bekanntem Ergebnis. Die Regeln – das Modell – fallen hinten 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Neuron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Multiplizieren, addieren, abschneiden. Die Gewichte sind die Drehregler, an denen das Training dreht.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822960" cy="82296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822960" cy="82296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697480"/>
            <a:ext cx="2286000" cy="73152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flipV="1">
            <a:off x="1920240" y="3703320"/>
            <a:ext cx="2286000" cy="73152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228600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w₁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w₂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2971800"/>
            <a:ext cx="1188720" cy="1188720"/>
          </a:xfrm>
          <a:prstGeom prst="ellipse">
            <a:avLst/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251960" y="2971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+ 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40680" y="3566160"/>
            <a:ext cx="86868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355080" y="301752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35508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 → 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3566160"/>
            <a:ext cx="77724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732520" y="3154680"/>
            <a:ext cx="822960" cy="82296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873252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8869680" cy="1051560"/>
          </a:xfrm>
          <a:prstGeom prst="roundRect">
            <a:avLst>
              <a:gd name="adj" fmla="val 104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2296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ReLU( </a:t>
            </a:r>
            <a:r>
              <a:rPr lang="en-US" sz="22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w₁</a:t>
            </a:r>
            <a:r>
              <a:rPr lang="en-US" sz="2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·x₁ + </a:t>
            </a:r>
            <a:r>
              <a:rPr lang="en-US" sz="22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w₂</a:t>
            </a:r>
            <a:r>
              <a:rPr lang="en-US" sz="2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·x₂ + </a:t>
            </a:r>
            <a:r>
              <a:rPr lang="en-US" sz="22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2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= </a:t>
            </a:r>
            <a:r>
              <a:rPr lang="en-US" sz="13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lernbar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Blau = </a:t>
            </a:r>
            <a:r>
              <a:rPr lang="en-US" sz="13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festgelegt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0" y="2011680"/>
            <a:ext cx="2057400" cy="4114800"/>
          </a:xfrm>
          <a:prstGeom prst="roundRect">
            <a:avLst>
              <a:gd name="adj" fmla="val 5333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97840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2560320"/>
            <a:ext cx="1737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Mischpult: Jeder Eingang hat einen Regler. Training heißt: Regler drehen, bis der Mix stimmt.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Netz hat 65 Regler.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GPT-Klasse: Hunderte Milliarden.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Neuronen = ein Netz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Netz heute: 2 Eingänge → 16 Neuronen → 1 Ausgang. Drei Zeilen PyTorch.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V="1">
            <a:off x="1920240" y="2148840"/>
            <a:ext cx="2560320" cy="731520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flipV="1">
            <a:off x="1920240" y="2660904"/>
            <a:ext cx="2560320" cy="219456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920240" y="2880360"/>
            <a:ext cx="2560320" cy="292608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920240" y="2880360"/>
            <a:ext cx="2560320" cy="804672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920240" y="2880360"/>
            <a:ext cx="2560320" cy="1316736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920240" y="2880360"/>
            <a:ext cx="2560320" cy="1828800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flipV="1">
            <a:off x="1920240" y="2148840"/>
            <a:ext cx="2560320" cy="2011680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flipV="1">
            <a:off x="1920240" y="2660904"/>
            <a:ext cx="2560320" cy="1499616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 flipV="1">
            <a:off x="1920240" y="3172968"/>
            <a:ext cx="2560320" cy="987552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 flipV="1">
            <a:off x="1920240" y="3685032"/>
            <a:ext cx="2560320" cy="475488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920240" y="4160520"/>
            <a:ext cx="2560320" cy="36576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920240" y="4160520"/>
            <a:ext cx="2560320" cy="548640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937760" y="2148840"/>
            <a:ext cx="2560320" cy="1463040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937760" y="2660904"/>
            <a:ext cx="2560320" cy="950976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937760" y="3172968"/>
            <a:ext cx="2560320" cy="438912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 flipV="1">
            <a:off x="4937760" y="3611880"/>
            <a:ext cx="2560320" cy="73152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 flipV="1">
            <a:off x="4937760" y="3611880"/>
            <a:ext cx="2560320" cy="585216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 flipV="1">
            <a:off x="4937760" y="3611880"/>
            <a:ext cx="2560320" cy="1097280"/>
          </a:xfrm>
          <a:prstGeom prst="line">
            <a:avLst/>
          </a:prstGeom>
          <a:noFill/>
          <a:ln w="12700">
            <a:solidFill>
              <a:srgbClr val="C9CD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463040" y="2651760"/>
            <a:ext cx="457200" cy="4572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463040" y="3931920"/>
            <a:ext cx="457200" cy="4572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480560" y="1920240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480560" y="2432304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80560" y="2944368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480560" y="3456432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480560" y="3968496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480560" y="4480560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389120" y="4892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498080" y="3291840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40080" y="4937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Eingänge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 y)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5349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Neuronen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(versteckte Schicht)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937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Ausgang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(&gt; 0 → Klasse 1)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52560" y="19202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189720" y="20116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nn.Sequential(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nn.Linear(2, 16),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nn.ReLU(),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nn.Linear(16, 1),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4114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6000" dirty="0"/>
          </a:p>
        </p:txBody>
      </p:sp>
      <p:sp>
        <p:nvSpPr>
          <p:cNvPr id="38" name="Text 36"/>
          <p:cNvSpPr txBox="1"/>
          <p:nvPr/>
        </p:nvSpPr>
        <p:spPr>
          <a:xfrm>
            <a:off x="9052560" y="5029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Gewichte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2·16 + 16  +  16·1 + 1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Schleife, um die sich alles dreht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Schritte, tausendmal wiederholt. Bei unserem Netz genauso wie bei GPT.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548640" cy="54864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Vorhersagen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587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Beispiele durchs Netz schicken.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6294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messen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587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weit daneben? Eine Zahl: der Loss.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loss_fn(...)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16052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629400" y="4434840"/>
            <a:ext cx="548640" cy="54864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6294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Schuld verteilen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873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Gewicht muss wohin? (Gradient)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5532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16052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Schritt gehen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4873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Gewichte ein Stück bergab. Lernrate = Schrittweite.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5532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2834640"/>
            <a:ext cx="54864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869680" y="3840480"/>
            <a:ext cx="0" cy="27432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 flipH="1">
            <a:off x="5806440" y="5120640"/>
            <a:ext cx="54864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 flipV="1">
            <a:off x="3291840" y="3840480"/>
            <a:ext cx="0" cy="27432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352044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und wieder von vorn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Durchlauf über alle Daten heißt Epoche.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Bergab im Nebel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sieht das Tal nicht. Man spürt nur, wo es abwärts geht – und macht einen Schritt.</a:t>
            </a:r>
            <a:endParaRPr lang="en-US" sz="1600" dirty="0"/>
          </a:p>
        </p:txBody>
      </p:sp>
      <p:pic>
        <p:nvPicPr>
          <p:cNvPr id="4" name="Image 0" descr="/home/claude/assets/hueg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76656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920240"/>
            <a:ext cx="3977640" cy="1783080"/>
          </a:xfrm>
          <a:prstGeom prst="roundRect">
            <a:avLst>
              <a:gd name="adj" fmla="val 615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7909560" y="2057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Lernrate zu klein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514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Winzige Schritte. Man kommt an – aber nicht heute. Der Loss sinkt kaum.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3886200"/>
            <a:ext cx="3977640" cy="1783080"/>
          </a:xfrm>
          <a:prstGeom prst="roundRect">
            <a:avLst>
              <a:gd name="adj" fmla="val 615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90956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Lernrate zu groß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480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Riesige Sprünge. Man springt übers Tal hinweg, der Loss explodiert – das Modell ist kaputt.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heißt Gradient Descent. Beides probiert ihr gleich selbst aus.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ihr: 18 Minuten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01 · Zelle für Zelle mit Shift + Enter · Copilot fragen ist ausdrücklich erlaubt</a:t>
            </a:r>
            <a:endParaRPr lang="en-US" sz="1600" dirty="0"/>
          </a:p>
        </p:txBody>
      </p:sp>
      <p:pic>
        <p:nvPicPr>
          <p:cNvPr id="4" name="Image 0" descr="/home/claude/assets/zeitraf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73152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Abschnitte 1–4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4553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 anschauen, Netz bauen, trainieren, im Zeitraffer zuschauen.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48056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Abschnitt 5 · Drehknöpfe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553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Lernrate, Neuronen, Epochen verstellen. Pro Experiment einen Satz notieren: Was habe ich gesehen?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2296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Abschnitt 6 · Overfitting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0" y="4553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 Prüfung mit den Übungsaufgaben nichts beweist. Danach: Challenge Spirale.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ihr gesehen habt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Zuruf: Ein Satz pro Experiment. Danach die vier Muster, die man in jedem KI-Projekt wiedersieht.</a:t>
            </a:r>
            <a:endParaRPr lang="en-US" sz="1600" dirty="0"/>
          </a:p>
        </p:txBody>
      </p:sp>
      <p:pic>
        <p:nvPicPr>
          <p:cNvPr id="4" name="Image 0" descr="/home/claude/assets/exp_lr_kle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697480" cy="2203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kleine Schritte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80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lernt, wird aber nicht fertig.</a:t>
            </a:r>
            <a:endParaRPr lang="en-US" sz="1200" dirty="0"/>
          </a:p>
        </p:txBody>
      </p:sp>
      <p:pic>
        <p:nvPicPr>
          <p:cNvPr id="7" name="Image 1" descr="/home/claude/assets/exp_lr_gr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783080"/>
            <a:ext cx="2697480" cy="22037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55848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große Schritte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355848" y="4480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explodiert, Modell kaputt.</a:t>
            </a:r>
            <a:endParaRPr lang="en-US" sz="1200" dirty="0"/>
          </a:p>
        </p:txBody>
      </p:sp>
      <p:pic>
        <p:nvPicPr>
          <p:cNvPr id="10" name="Image 2" descr="/home/claude/assets/exp_kle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783080"/>
            <a:ext cx="2697480" cy="22037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63056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 zu klein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163056" y="4480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Neuronen = zwei Knicke. Underfitting.</a:t>
            </a:r>
            <a:endParaRPr lang="en-US" sz="1200" dirty="0"/>
          </a:p>
        </p:txBody>
      </p:sp>
      <p:pic>
        <p:nvPicPr>
          <p:cNvPr id="13" name="Image 3" descr="/home/claude/assets/exp_overf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0264" y="1783080"/>
            <a:ext cx="2697480" cy="22037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70264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Auswendig gelernt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970264" y="4480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99 %, neue Daten 75 %. Overfitting.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 txBox="1"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Frage, die ihr in jedem Projekt stellen solltet: Wie gut ist das Modell auf Daten, die es nie gesehen hat?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65 zu 400.000.000.000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großes Sprachmodell von eurem Netz unterscheidet – und was nicht.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520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Euer Netz (heute)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Großes Sprachmodell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Aufgabe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Punkt → blau oder orange?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→ welches Wort kommt als Nächstes?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Gewichte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einige hundert Milliarden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Trainingsdaten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Punkte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Billionen Wörter aus dem Internet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CPU-Kerne im Codespace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Zehntausende GPUs, monatelang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des Trainings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hunderte Millionen 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 Trainingsschleife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80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Vorhersagen · Fehler messen · Schuld verteilen · Schritt gehen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80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exakt dieselbe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80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Ganze heißt „Skalierung“: dieselbe Idee, nur millionenfach größer. Der Rest ist Ingenieurskunst, Geld und Strom.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Sprachmodell = Autovervollständigung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Sehr, sehr gute. Es antwortet nie mit einem Wort, sondern liefert für jedes mögliche Wort eine Wahrscheinlichkeit.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Hauptstadt von Bayern ist </a:t>
            </a:r>
            <a:r>
              <a:rPr lang="en-US" sz="20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88036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62940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es „weiß“, dass München stimmt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4231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Nicht, weil es Geografie versteht – sondern weil diese Wortfolge in den Trainingsdaten sehr oft so weiterging. Genau wie euer Netz „weiß“, dass rechts unten orange ist.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393192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62940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warum es manchmal Unsinn erzählt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die Daten nichts hergeben, wird trotzdem das wahrscheinlichste Wort gezogen – selbstbewusst und falsch. Das heißt Halluzination. Deshalb: prüfen, was rauskommt. Immer.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ihr: zwei Fragen an die KI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raus, QR-Code scannen. Keine personenbezogenen Daten – die Übungen brauchen keine.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nomadandy.github.io/KI-ckstart/handy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937760" y="187452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161" y="2021921"/>
            <a:ext cx="272125" cy="272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60720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QR-Code scannen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22128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Seite hat die Prompts fertig: „Kopieren“, „Copilot öffnen“ (dort einfügen) oder „In ChatGPT öffnen“.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937760" y="288036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161" y="3027761"/>
            <a:ext cx="272125" cy="2721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1: Zufallszahl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60720" y="32186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„Nenne mir eine Zufallszahl zwischen 1 und 100. Nur die Zahl, keine Erklärung, kein Code.“ Absenden – dann Handzeichen.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937760" y="388620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161" y="4033601"/>
            <a:ext cx="272125" cy="2721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60720" y="3840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2: Das Buch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5760720" y="42245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„Worum geht es im Buch ‚KI-ckstart‘ von Andreas Weiß? Fasse die drei Kernthesen zusammen.“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937760" y="4892040"/>
            <a:ext cx="566928" cy="5669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5161" y="5039441"/>
            <a:ext cx="272125" cy="27212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760720" y="4846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steht da?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5760720" y="523036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lesen. Wir lösen gleich auf.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pic>
        <p:nvPicPr>
          <p:cNvPr id="23" name="Picture 22" descr="qr_hand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182880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Modell zum Agenten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Sprachmodell + Werkzeuge + eine Schleife. Sonst nichts.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Auftrag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„Baue mir eine Web-App mit …“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428" y="2281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 denkt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machen, nächsten Schritt wählen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675120" y="4434840"/>
            <a:ext cx="685800" cy="68580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428" y="46131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5895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 ausführen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Shell, Dateien, Browser, Docker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" y="46131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lesen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Fehlermeldung? Erfolg? Zurück zu Schritt 2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852160" y="2788920"/>
            <a:ext cx="50292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9052560" y="3794760"/>
            <a:ext cx="0" cy="32004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 flipH="1">
            <a:off x="5852160" y="5120640"/>
            <a:ext cx="50292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 txBox="1"/>
          <p:nvPr/>
        </p:nvSpPr>
        <p:spPr>
          <a:xfrm>
            <a:off x="1828800" y="6172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der Auftrag erledigt ist – oder der Mensch eingreift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 flipV="1">
            <a:off x="5760720" y="3685032"/>
            <a:ext cx="685800" cy="539496"/>
          </a:xfrm>
          <a:prstGeom prst="line">
            <a:avLst/>
          </a:prstGeom>
          <a:noFill/>
          <a:ln w="31750">
            <a:solidFill>
              <a:srgbClr val="E8801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Text 23"/>
          <p:cNvSpPr txBox="1"/>
          <p:nvPr/>
        </p:nvSpPr>
        <p:spPr>
          <a:xfrm>
            <a:off x="3566160" y="3813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 zu 2 – die Schleife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Hermes baut eine Web-App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benutzt sie in zehn Minuten selbst – vom Handy aus.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2A2D37"/>
          </a:solidFill>
          <a:ln w="12700">
            <a:solidFill>
              <a:srgbClr val="2A2D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</a:t>
            </a:r>
            <a:r>
              <a:rPr lang="en-US" sz="1800" b="1" dirty="0" err="1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Auftrag</a:t>
            </a:r>
            <a:r>
              <a:rPr lang="en-US" sz="18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Hermes: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Erstelle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WebApp, die in 5 Minuten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erreichbar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sein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soll</a:t>
            </a:r>
            <a:endParaRPr lang="en-US" sz="1300" dirty="0">
              <a:solidFill>
                <a:srgbClr val="E5E7E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Umfrage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„Wie oft nutzt du KI-Tools in deiner Ausbildung?“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Buttons, handytauglich, eine Stimme pro Gerät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als Balkendiagramm für den Beamer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SQLite – läuft auf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meinem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Home-Server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WebApps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Container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Gib mir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anschließend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einen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 QR-Code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mit</a:t>
            </a:r>
            <a:r>
              <a:rPr lang="en-US" sz="1300" dirty="0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 der </a:t>
            </a:r>
            <a:r>
              <a:rPr lang="en-US" sz="1300" dirty="0" err="1">
                <a:solidFill>
                  <a:srgbClr val="E5E7EB"/>
                </a:solidFill>
                <a:latin typeface="Arial" pitchFamily="34" charset="0"/>
                <a:cs typeface="Arial" pitchFamily="34" charset="-120"/>
              </a:rPr>
              <a:t>Internetadresse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</a:t>
            </a:r>
            <a:r>
              <a:rPr lang="en-US" sz="1300" b="1" dirty="0" err="1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</a:t>
            </a:r>
            <a:r>
              <a:rPr lang="en-US" sz="13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Extra-Feature: 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2A2D37"/>
          </a:solidFill>
          <a:ln w="12700">
            <a:solidFill>
              <a:srgbClr val="2A2D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63640" y="2130552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263640" y="2130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423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aktualisieren sich auf allen Bildschirmen ohne Neuladen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32461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2A2D37"/>
          </a:solidFill>
          <a:ln w="12700">
            <a:solidFill>
              <a:srgbClr val="2A2D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263640" y="3547872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636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Wortwolke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Zweite Frage: „Ein Wort, das du mit KI verbindest“ – als Wortwolke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466344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2A2D37"/>
          </a:solidFill>
          <a:ln w="12700">
            <a:solidFill>
              <a:srgbClr val="2A2D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63640" y="4965192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26364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Konfetti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plus Konfetti-Explosion nach jeder Stimme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6126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Handzeichen: A, B oder C?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was heißt das für uns?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 im Betrieb ist kein Naturereignis. Wer sie einsetzt, muss fragen – und wer ausgebildet wird, darf fordern.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9952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KI-Kompetenz ist Pflicht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671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 KI-Verordnung: Wer KI im Betrieb einsetzt, muss die Beschäftigten dafür schulen. Gilt seit Februar 2025 – auch für Azubis.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98648"/>
            <a:ext cx="640080" cy="6400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306506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529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Betriebsrat wird vorher informiert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23697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90 Abs. 1 Nr. 3 BetrVG: Beim geplanten Einsatz von KI ist der Betriebsrat rechtzeitig zu unterrichten und zu beraten. Nicht nachher.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68496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4134917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227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Überwachung ist mitbestimmungspflichtig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30682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87 Abs. 1 Nr. 6 BetrVG: Technik, die Verhalten oder Leistung überwachen kann, braucht die Zustimmung des Betriebsrats. KI-Tools können das fast immer.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038344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1" y="5204765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9926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JAV kann Ausbildung einfordern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3766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70 Abs. 1 Nr. 2 BetrVG: Die JAV beantragt beim Betriebsrat Maßnahmen zur Berufsbildung. KI-Kompetenz gehört in den Ausbildungsplan – nicht in die Freizeit.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habt ihr gesehen, wie das Ding von innen </a:t>
            </a:r>
            <a:r>
              <a:rPr lang="en-US" sz="1300" b="1" dirty="0" err="1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funktioniert</a:t>
            </a: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Damit </a:t>
            </a:r>
            <a:r>
              <a:rPr lang="en-US" sz="1300" b="1" dirty="0" err="1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wisst</a:t>
            </a: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</a:t>
            </a: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b="1" dirty="0" err="1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wovon</a:t>
            </a: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</a:t>
            </a: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sprecht</a:t>
            </a: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824728" y="5047488"/>
            <a:ext cx="731520" cy="2286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824728" y="5276088"/>
            <a:ext cx="731520" cy="2286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824728" y="5276088"/>
            <a:ext cx="731520" cy="6858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824728" y="5276088"/>
            <a:ext cx="731520" cy="11430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824728" y="5276088"/>
            <a:ext cx="731520" cy="141732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 flipV="1">
            <a:off x="5824728" y="5047488"/>
            <a:ext cx="731520" cy="73152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 flipV="1">
            <a:off x="5824728" y="5504688"/>
            <a:ext cx="731520" cy="27432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824728" y="5779008"/>
            <a:ext cx="731520" cy="1828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824728" y="5779008"/>
            <a:ext cx="731520" cy="6400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824728" y="5779008"/>
            <a:ext cx="731520" cy="9144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 flipV="1">
            <a:off x="5824728" y="5047488"/>
            <a:ext cx="731520" cy="12344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 flipV="1">
            <a:off x="5824728" y="5504688"/>
            <a:ext cx="731520" cy="7772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 flipV="1">
            <a:off x="5824728" y="5961888"/>
            <a:ext cx="731520" cy="32004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824728" y="6281928"/>
            <a:ext cx="731520" cy="13716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824728" y="6281928"/>
            <a:ext cx="731520" cy="4114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56248" y="5047488"/>
            <a:ext cx="731520" cy="73152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556248" y="5504688"/>
            <a:ext cx="731520" cy="27432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 flipV="1">
            <a:off x="6556248" y="5779008"/>
            <a:ext cx="731520" cy="1828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 flipV="1">
            <a:off x="6556248" y="5779008"/>
            <a:ext cx="731520" cy="64008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 flipV="1">
            <a:off x="6556248" y="5779008"/>
            <a:ext cx="731520" cy="91440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760720" y="5212080"/>
            <a:ext cx="128016" cy="1280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760720" y="5715000"/>
            <a:ext cx="128016" cy="1280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760720" y="6217920"/>
            <a:ext cx="128016" cy="1280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92240" y="4983480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492240" y="5440680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92240" y="5897880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92240" y="6355080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92240" y="6629400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223760" y="5715000"/>
            <a:ext cx="164592" cy="164592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31520" y="548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Sätze zum Mitnehmen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554480" y="16002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Modell lernt, indem es Gewichte Schritt für Schritt so verstellt, dass der Fehler kleiner wird. Sonst nichts.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269748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und Claude sind dasselbe Prinzip – nur milliardenfach größer. Sie raten das nächste Wort, sehr gut, manchmal falsch.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554480" y="37947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Agent ist ein Modell mit Werkzeugen und einer Schleife. Er liefert Entwürfe. Verantwortung und Mitbestimmung bleiben bei Menschen.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8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8778240" y="146304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0" descr="/home/claude/assets/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600200"/>
            <a:ext cx="2468880" cy="2468880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8869680" y="4114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KI-ckstart zum Weitermachen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github.com/NoMadAndy/KI-ckstart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8778240" y="5349240"/>
            <a:ext cx="2834640" cy="9601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Picture 45" descr="qr_han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5440680"/>
            <a:ext cx="777240" cy="77724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9784080" y="5394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Handy-Übungen &amp; Eliza</a:t>
            </a:r>
            <a:endParaRPr lang="en-US" sz="1000" dirty="0"/>
          </a:p>
          <a:p>
            <a:r>
              <a:rPr sz="800">
                <a:solidFill>
                  <a:srgbClr val="6B7280"/>
                </a:solidFill>
                <a:latin typeface="Arial"/>
              </a:rPr>
              <a:t>nomadandy.github.io/KI-ckstart/handy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Sätze vervollständigen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Ruft das Ende. Was ihr dabei tut, tut ein Sprachmodell den ganzen Tag.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 plus eins ist …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898648"/>
            <a:ext cx="640080" cy="6400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1417320" y="28986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Apfel fällt nicht weit vom …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968496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 txBox="1"/>
          <p:nvPr/>
        </p:nvSpPr>
        <p:spPr>
          <a:xfrm>
            <a:off x="1417320" y="39684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anderen eine Grube gräbt, 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5038344"/>
            <a:ext cx="640080" cy="64008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2"/>
          <p:cNvSpPr txBox="1"/>
          <p:nvPr/>
        </p:nvSpPr>
        <p:spPr>
          <a:xfrm>
            <a:off x="1417320" y="503834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A sagt, muss auch …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Merkt euch, was ihr gerade gemacht habt: das wahrscheinlichste nächste Wort geraten.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98648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68496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38344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Eliza, Baujahr 1966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Chatbot: rund 200 handgeschriebene Regeln – kein Lernen.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7373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Regel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bin müde“ → „Warum bist du müde?“ Schlüsselwort erkennen, Satz spiegeln, Frage zurück.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ELIZA-Effekt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Weizenbaums Sekretärin bat ihn, den Raum zu verlassen – sie wollte „privat“ mit dem Programm reden.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675120" y="4434840"/>
            <a:ext cx="685800" cy="68580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 txBox="1"/>
          <p:nvPr/>
        </p:nvSpPr>
        <p:spPr>
          <a:xfrm>
            <a:off x="75895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Mahner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1976: „Die Macht der Computer und die Ohnmacht der Vernunft“. Nicht was ein Computer kann – was er tun soll.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 txBox="1"/>
          <p:nvPr/>
        </p:nvSpPr>
        <p:spPr>
          <a:xfrm>
            <a:off x="173736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201. Situation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jede Situation eine Regel – das ist Programmieren. Lernen heißt: Die Regeln entstehen aus Beispielen.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828800" y="6172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 läuft auf der Handy-Seite – unter jeder Antwort steht, welche Regel gezündet hat.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Turing-Test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1950: Statt „Können Maschinen denken?“ ein Spiel – wer erkennt die Maschine im Chat?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7373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Imitationsspiel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Richter chattet mit Mensch und Maschine, ohne zu wissen, wer wer ist. Turings Tipp: um 2000 täuscht die Maschine 30 % der Richter.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CAPTCHA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Automated Public Turing test to tell Computers and Humans Apart. Ihr legt täglich Turing-Tests ab – umgekehrt.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675120" y="4434840"/>
            <a:ext cx="685800" cy="68580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 txBox="1"/>
          <p:nvPr/>
        </p:nvSpPr>
        <p:spPr>
          <a:xfrm>
            <a:off x="75895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wird gemessen?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misst den Richter, nicht die Maschine. Der ELIZA-Effekt von der anderen Seite.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 txBox="1"/>
          <p:nvPr/>
        </p:nvSpPr>
        <p:spPr>
          <a:xfrm>
            <a:off x="173736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Bestanden?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2014: „Eugene Goostman“, angeblich 13, schlechtes Englisch – jede Schwäche erklärbar. 2025: Modelle mit Persona wirken menschlicher als Menschen.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828800" y="6172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der Test bestanden ist – was haben wir dann eigentlich gemessen?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Münchhausen: die Wortkette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Sprachmodell hat nichts außer den Wörtern, die schon dastehen.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7373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Kette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neue Wort wird aus den vorherigen berechnet, hängt sich hinten an, wird Grundlage fürs nächste. Es gibt keinen Boden darunter.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Wort kommt aus dieser Geschichte: am eigenen Schopf – im Englischen am Stiefelriemen – aus dem Sumpf. Jeder Rechner bootet so.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675120" y="4434840"/>
            <a:ext cx="685800" cy="68580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 txBox="1"/>
          <p:nvPr/>
        </p:nvSpPr>
        <p:spPr>
          <a:xfrm>
            <a:off x="75895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Lügenbaron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Voller Ernst, liebevolles Detail – so halluziniert ein Modell. Zeigen die ersten Glieder in die falsche Richtung, folgt die Kette.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 txBox="1"/>
          <p:nvPr/>
        </p:nvSpPr>
        <p:spPr>
          <a:xfrm>
            <a:off x="173736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Schopf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„Denk Schritt für Schritt“ funktioniert, weil sich das Modell erst eine Kette baut, an der es sich hochzieht. Es denkt, indem es redet.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828800" y="6172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Kuh-Trick gibt die ersten Glieder vor. Ein Prompt auch. Zurücknehmen geht nicht – nur anhängen.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von Hand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Modell mit einem Gewicht: Minuten = w · Tickets. Start w = 1. Dreiergruppen, fünf Runden.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7373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Modell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Sieht nur die Vorderseite der Karte (Tickets x) und rechnet w · x.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Lehrer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 die Karte um und vergleicht mit der Wahrheit: zu klein, zu groß oder Treffer.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DF0E4"/>
          </a:solidFill>
          <a:ln w="12700">
            <a:solidFill>
              <a:srgbClr val="FDF0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675120" y="4434840"/>
            <a:ext cx="685800" cy="685800"/>
          </a:xfrm>
          <a:prstGeom prst="ellipse">
            <a:avLst/>
          </a:prstGeom>
          <a:solidFill>
            <a:srgbClr val="E8801C"/>
          </a:solidFill>
          <a:ln w="12700">
            <a:solidFill>
              <a:srgbClr val="E880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 txBox="1"/>
          <p:nvPr/>
        </p:nvSpPr>
        <p:spPr>
          <a:xfrm>
            <a:off x="75895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Schrittweite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 0,5 · Blau 2 · Grün 3. Nach fünf Runden: Wo steht euer w? Wer kriecht, wer sitzt, wer springt?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6F0F8"/>
          </a:solidFill>
          <a:ln w="12700">
            <a:solidFill>
              <a:srgbClr val="E6F0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 txBox="1"/>
          <p:nvPr/>
        </p:nvSpPr>
        <p:spPr>
          <a:xfrm>
            <a:off x="173736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Optimierer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Ändert w um die Schrittweite in die richtige Richtung. Bei Treffer bleibt w.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828800" y="6172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Schrittweite ist die Lernrate. Das Notebook dreht gleich denselben Knopf – mit 65 Gewichten.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10312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34840"/>
            <a:ext cx="685800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5401</Words>
  <Application>Microsoft Office PowerPoint</Application>
  <PresentationFormat>Breitbild</PresentationFormat>
  <Paragraphs>447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5" baseType="lpstr">
      <vt:lpstr>Arial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KI-ckstart – Wie lernt eine Maschine?</dc:title>
  <dc:subject>PptxGenJS Presentation</dc:subject>
  <dc:creator>Andreas Weiß</dc:creator>
  <cp:lastModifiedBy>Weiss, Andreas (A-BRS)</cp:lastModifiedBy>
  <cp:revision>2</cp:revision>
  <dcterms:created xsi:type="dcterms:W3CDTF">2026-09-08T15:14:05Z</dcterms:created>
  <dcterms:modified xsi:type="dcterms:W3CDTF">2026-09-14T15:37:01Z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INTERNAL</vt:lpwstr>
  </property>
</Properties>
</file>